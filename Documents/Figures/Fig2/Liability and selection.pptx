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ED6"/>
    <a:srgbClr val="EFC6D2"/>
    <a:srgbClr val="AFDA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07"/>
    <p:restoredTop sz="94640"/>
  </p:normalViewPr>
  <p:slideViewPr>
    <p:cSldViewPr snapToGrid="0">
      <p:cViewPr>
        <p:scale>
          <a:sx n="89" d="100"/>
          <a:sy n="89" d="100"/>
        </p:scale>
        <p:origin x="392" y="7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B573F-77D0-FFFC-336F-89E9B0C67C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FF316F-A517-97D5-5131-1174B295CD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47253D-CAD8-C2E8-15F9-FBEA932813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155D4-9095-5443-9789-CB1A879DEA9E}" type="datetimeFigureOut">
              <a:rPr lang="en-US" smtClean="0"/>
              <a:t>10/30/24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28CBD7-E22D-2871-2121-0CF1736DD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1CEB25-047F-4500-782C-2785024B2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4C181-9234-D644-AFEB-30C00A2655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190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7832D-C304-7A6F-246F-31A580166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46B561-D7DA-3303-B09E-8E9A280916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3915BE-B1FE-BA87-FFF9-9943652AD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155D4-9095-5443-9789-CB1A879DEA9E}" type="datetimeFigureOut">
              <a:rPr lang="en-US" smtClean="0"/>
              <a:t>10/30/24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A6A509-2381-FAB8-78E4-844751811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316917-DFA5-00A5-7AF6-CC94C17A6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4C181-9234-D644-AFEB-30C00A2655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0941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7747F-6292-6FFE-720E-B3B4A0155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B1B206-3DA5-4759-5574-8F028B203B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B0422A-582D-747D-6F40-7F41AFDB3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155D4-9095-5443-9789-CB1A879DEA9E}" type="datetimeFigureOut">
              <a:rPr lang="en-US" smtClean="0"/>
              <a:t>10/30/24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2555E3-9D12-B83B-AA0B-50F8EC3EE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CC2E4B-9611-EF64-B325-1CFB9E474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4C181-9234-D644-AFEB-30C00A2655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9526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D4782-A7FF-1045-8CC7-AAB2557DE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CF92EE-C0B7-3895-FD15-639DDBC41C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053521-2ACE-C394-FFB1-6A88D86424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BFCA66-4763-C3C5-F593-EF8B82394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155D4-9095-5443-9789-CB1A879DEA9E}" type="datetimeFigureOut">
              <a:rPr lang="en-US" smtClean="0"/>
              <a:t>10/30/24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8BA16E-A0E9-EB2A-0055-E4CDB9247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7B67AE-4152-3DA3-47B9-8AFA4DAD6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4C181-9234-D644-AFEB-30C00A2655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327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95970-9F86-A31C-947B-9EDC3DF35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1D1DBA-740A-D9D8-CABE-3610D1D5BA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1C8426-3B41-9D73-72BC-7AB15117BE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316ADA-F07C-3959-1798-1982DA2975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0478289-8C13-CD62-A64D-F767CD1A01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FB9828-F753-FC2D-5144-14866B09D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155D4-9095-5443-9789-CB1A879DEA9E}" type="datetimeFigureOut">
              <a:rPr lang="en-US" smtClean="0"/>
              <a:t>10/30/24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CB401B-746B-E198-BFE2-29A6351E6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09757E-9311-4FC1-1860-2D942DC23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4C181-9234-D644-AFEB-30C00A2655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896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C2D13-3F5D-B193-3FBE-6701FB0D2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502FB2-BA8A-2744-2007-B85CDE00B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155D4-9095-5443-9789-CB1A879DEA9E}" type="datetimeFigureOut">
              <a:rPr lang="en-US" smtClean="0"/>
              <a:t>10/30/24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DF3156-A6E4-D5BD-F4CA-8F0CA4E49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6726CC-6DE5-C66E-72CE-F0229E4BA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4C181-9234-D644-AFEB-30C00A2655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0004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21F588-9909-780C-ADC2-1B789C7D2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155D4-9095-5443-9789-CB1A879DEA9E}" type="datetimeFigureOut">
              <a:rPr lang="en-US" smtClean="0"/>
              <a:t>10/30/24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F09792-565D-0329-C6CA-668F50722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A910E0-47F1-00E9-5668-2CF30CCD7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4C181-9234-D644-AFEB-30C00A2655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4038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25D3F-A905-4C17-5DB5-9EB478CDF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541983-2C25-E0C0-8D80-07BFF793C2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F2BEC9-C73A-0787-7593-44C03B20B0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EC6316-C53A-E710-713B-A66054E1B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155D4-9095-5443-9789-CB1A879DEA9E}" type="datetimeFigureOut">
              <a:rPr lang="en-US" smtClean="0"/>
              <a:t>10/30/24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B143E0-BE7A-DB04-1202-A2A2946B7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A9F531-AF16-0B7B-1A16-8DCCA52A2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4C181-9234-D644-AFEB-30C00A2655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4727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E3F1C-89EC-1676-2094-3E028A682A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45A0592-491C-1200-D35D-B6BBE81099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0DC8E2-C425-61B0-3DCA-649EC12BF9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730ED1-D11F-B6E4-B2E7-7F60C257B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155D4-9095-5443-9789-CB1A879DEA9E}" type="datetimeFigureOut">
              <a:rPr lang="en-US" smtClean="0"/>
              <a:t>10/30/24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D71E5D-5DF4-2AD7-30B2-5FA9B6903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9BB5E7-69C2-AADA-F4DB-1C48B61C4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4C181-9234-D644-AFEB-30C00A2655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114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0A907-4286-DB1F-C173-C08C419AB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7D93B9-0082-9963-42E4-24242D756B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EA69FD-7254-048D-F447-FCA7ED050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155D4-9095-5443-9789-CB1A879DEA9E}" type="datetimeFigureOut">
              <a:rPr lang="en-US" smtClean="0"/>
              <a:t>10/30/24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E4618B-B565-7B84-A7EF-DF88E37B5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FD093A-8563-25C1-1482-4AC2052C7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4C181-9234-D644-AFEB-30C00A2655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0803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3CCD670-BBE5-C33D-0BCD-6E9C3E30C4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DB6EA1-7FDB-FF91-15F6-606670B87D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60DF6E-765F-2960-B8F2-0F03F46E3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155D4-9095-5443-9789-CB1A879DEA9E}" type="datetimeFigureOut">
              <a:rPr lang="en-US" smtClean="0"/>
              <a:t>10/30/24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BF27C9-D612-FC59-316F-BA495036D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CC958A-EF00-8B6F-5923-77BEDEBBC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4C181-9234-D644-AFEB-30C00A2655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842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BDEE88-AAD3-B3E5-AB22-AD7417AC0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5BFE67-C798-2FD7-D7A3-56DC00FD8C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D0CC49-F91C-0A3E-A092-0F97BCB8B3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E155D4-9095-5443-9789-CB1A879DEA9E}" type="datetimeFigureOut">
              <a:rPr lang="en-US" smtClean="0"/>
              <a:t>10/30/24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3A910-41C7-C926-61AC-0116849638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ADB9EF-CBC3-CCD4-AC3E-3E56F14EEA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64C181-9234-D644-AFEB-30C00A2655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806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emf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489C6F7D-6394-6E7F-03F6-E1AD257830C4}"/>
              </a:ext>
            </a:extLst>
          </p:cNvPr>
          <p:cNvSpPr/>
          <p:nvPr/>
        </p:nvSpPr>
        <p:spPr>
          <a:xfrm>
            <a:off x="6044876" y="1874430"/>
            <a:ext cx="6006448" cy="3109140"/>
          </a:xfrm>
          <a:custGeom>
            <a:avLst/>
            <a:gdLst>
              <a:gd name="connsiteX0" fmla="*/ 0 w 6006448"/>
              <a:gd name="connsiteY0" fmla="*/ 3109140 h 3109140"/>
              <a:gd name="connsiteX1" fmla="*/ 1188720 w 6006448"/>
              <a:gd name="connsiteY1" fmla="*/ 2550340 h 3109140"/>
              <a:gd name="connsiteX2" fmla="*/ 3012395 w 6006448"/>
              <a:gd name="connsiteY2" fmla="*/ 0 h 3109140"/>
              <a:gd name="connsiteX3" fmla="*/ 4833103 w 6006448"/>
              <a:gd name="connsiteY3" fmla="*/ 2548991 h 3109140"/>
              <a:gd name="connsiteX4" fmla="*/ 6006448 w 6006448"/>
              <a:gd name="connsiteY4" fmla="*/ 3107342 h 31091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06448" h="3109140">
                <a:moveTo>
                  <a:pt x="0" y="3109140"/>
                </a:moveTo>
                <a:cubicBezTo>
                  <a:pt x="343327" y="3088835"/>
                  <a:pt x="686654" y="3068530"/>
                  <a:pt x="1188720" y="2550340"/>
                </a:cubicBezTo>
                <a:cubicBezTo>
                  <a:pt x="1690786" y="2032150"/>
                  <a:pt x="2404998" y="225"/>
                  <a:pt x="3012395" y="0"/>
                </a:cubicBezTo>
                <a:cubicBezTo>
                  <a:pt x="3619792" y="-225"/>
                  <a:pt x="4334094" y="2031101"/>
                  <a:pt x="4833103" y="2548991"/>
                </a:cubicBezTo>
                <a:cubicBezTo>
                  <a:pt x="5332112" y="3066881"/>
                  <a:pt x="5669280" y="3087111"/>
                  <a:pt x="6006448" y="3107342"/>
                </a:cubicBezTo>
              </a:path>
            </a:pathLst>
          </a:custGeom>
          <a:solidFill>
            <a:srgbClr val="AFDAE7"/>
          </a:solidFill>
          <a:ln w="3175">
            <a:solidFill>
              <a:srgbClr val="AFDA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C4B6793-C94C-54F1-40C2-D9452693584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0578" t="23843" r="43051" b="45817"/>
          <a:stretch/>
        </p:blipFill>
        <p:spPr>
          <a:xfrm>
            <a:off x="9319891" y="1908434"/>
            <a:ext cx="2650210" cy="307978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35CEA72-9455-D067-65A8-6B6A5AB92367}"/>
                  </a:ext>
                </a:extLst>
              </p:cNvPr>
              <p:cNvSpPr txBox="1"/>
              <p:nvPr/>
            </p:nvSpPr>
            <p:spPr>
              <a:xfrm>
                <a:off x="10666370" y="5026052"/>
                <a:ext cx="1081471" cy="365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</m:acc>
                        </m:e>
                        <m:sub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𝑣𝑤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ad>
                        <m:radPr>
                          <m:degHide m:val="on"/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</m:rad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35CEA72-9455-D067-65A8-6B6A5AB923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6370" y="5026052"/>
                <a:ext cx="1081471" cy="365998"/>
              </a:xfrm>
              <a:prstGeom prst="rect">
                <a:avLst/>
              </a:prstGeom>
              <a:blipFill>
                <a:blip r:embed="rId3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98FDA83-D245-B3A9-D8D1-F9A979C7FE7F}"/>
              </a:ext>
            </a:extLst>
          </p:cNvPr>
          <p:cNvCxnSpPr>
            <a:cxnSpLocks/>
          </p:cNvCxnSpPr>
          <p:nvPr/>
        </p:nvCxnSpPr>
        <p:spPr>
          <a:xfrm>
            <a:off x="9025860" y="4821980"/>
            <a:ext cx="124148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BA6F254-211F-FDC5-96A6-5A55C832F9AA}"/>
              </a:ext>
            </a:extLst>
          </p:cNvPr>
          <p:cNvCxnSpPr/>
          <p:nvPr/>
        </p:nvCxnSpPr>
        <p:spPr>
          <a:xfrm>
            <a:off x="9025860" y="4729451"/>
            <a:ext cx="0" cy="18505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A7475D61-68D9-ADEE-61AD-36B53C6D5ACD}"/>
              </a:ext>
            </a:extLst>
          </p:cNvPr>
          <p:cNvCxnSpPr/>
          <p:nvPr/>
        </p:nvCxnSpPr>
        <p:spPr>
          <a:xfrm>
            <a:off x="10267341" y="4729451"/>
            <a:ext cx="0" cy="18505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BF57FE51-E662-F4B4-D6A4-4D635EF3549B}"/>
                  </a:ext>
                </a:extLst>
              </p:cNvPr>
              <p:cNvSpPr txBox="1"/>
              <p:nvPr/>
            </p:nvSpPr>
            <p:spPr>
              <a:xfrm>
                <a:off x="8969586" y="4454237"/>
                <a:ext cx="1487714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𝑣𝑤</m:t>
                        </m:r>
                      </m:sub>
                      <m:sup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US" sz="1400" dirty="0"/>
                  <a:t>=0.90 ± 0.08</a:t>
                </a:r>
                <a:r>
                  <a:rPr lang="en-US" sz="1400" dirty="0">
                    <a:effectLst/>
                  </a:rPr>
                  <a:t> </a:t>
                </a:r>
                <a:endParaRPr lang="en-US" sz="14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BF57FE51-E662-F4B4-D6A4-4D635EF354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9586" y="4454237"/>
                <a:ext cx="1487714" cy="307777"/>
              </a:xfrm>
              <a:prstGeom prst="rect">
                <a:avLst/>
              </a:prstGeom>
              <a:blipFill>
                <a:blip r:embed="rId4"/>
                <a:stretch>
                  <a:fillRect t="-4000" b="-2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>
            <a:extLst>
              <a:ext uri="{FF2B5EF4-FFF2-40B4-BE49-F238E27FC236}">
                <a16:creationId xmlns:a16="http://schemas.microsoft.com/office/drawing/2014/main" id="{0162AAEC-DDA4-83DC-C121-1A1AA056C0D8}"/>
              </a:ext>
            </a:extLst>
          </p:cNvPr>
          <p:cNvSpPr txBox="1"/>
          <p:nvPr/>
        </p:nvSpPr>
        <p:spPr>
          <a:xfrm>
            <a:off x="9197831" y="4979697"/>
            <a:ext cx="2664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F0F4D1C-60D2-2EED-D1CD-410F1867B044}"/>
              </a:ext>
            </a:extLst>
          </p:cNvPr>
          <p:cNvSpPr txBox="1"/>
          <p:nvPr/>
        </p:nvSpPr>
        <p:spPr>
          <a:xfrm>
            <a:off x="10381206" y="5290090"/>
            <a:ext cx="17251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Mean insect liability</a:t>
            </a:r>
          </a:p>
          <a:p>
            <a:pPr algn="ctr"/>
            <a:r>
              <a:rPr lang="en-US" sz="1400" dirty="0"/>
              <a:t>in </a:t>
            </a:r>
            <a:r>
              <a:rPr lang="en-US" sz="1400" b="1" dirty="0">
                <a:solidFill>
                  <a:srgbClr val="FFCED6"/>
                </a:solidFill>
              </a:rPr>
              <a:t>flooded</a:t>
            </a:r>
            <a:r>
              <a:rPr lang="en-US" sz="1400" dirty="0"/>
              <a:t> sites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167C5DA9-66ED-27F8-B1D2-39338C77845B}"/>
                  </a:ext>
                </a:extLst>
              </p:cNvPr>
              <p:cNvSpPr txBox="1"/>
              <p:nvPr/>
            </p:nvSpPr>
            <p:spPr>
              <a:xfrm>
                <a:off x="7516834" y="5022005"/>
                <a:ext cx="871007" cy="365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</m:acc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ad>
                        <m:radPr>
                          <m:degHide m:val="on"/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</m:rad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167C5DA9-66ED-27F8-B1D2-39338C7784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6834" y="5022005"/>
                <a:ext cx="871007" cy="365998"/>
              </a:xfrm>
              <a:prstGeom prst="rect">
                <a:avLst/>
              </a:prstGeom>
              <a:blipFill>
                <a:blip r:embed="rId5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Box 33">
            <a:extLst>
              <a:ext uri="{FF2B5EF4-FFF2-40B4-BE49-F238E27FC236}">
                <a16:creationId xmlns:a16="http://schemas.microsoft.com/office/drawing/2014/main" id="{00055D11-BC0F-2583-A7DD-FDBDAD3DC17E}"/>
              </a:ext>
            </a:extLst>
          </p:cNvPr>
          <p:cNvSpPr txBox="1"/>
          <p:nvPr/>
        </p:nvSpPr>
        <p:spPr>
          <a:xfrm>
            <a:off x="7126642" y="5290090"/>
            <a:ext cx="17251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Mean insect liability</a:t>
            </a:r>
          </a:p>
          <a:p>
            <a:pPr algn="ctr"/>
            <a:r>
              <a:rPr lang="en-US" sz="1400" dirty="0"/>
              <a:t>in </a:t>
            </a:r>
            <a:r>
              <a:rPr lang="en-US" sz="1400" b="1" dirty="0">
                <a:solidFill>
                  <a:srgbClr val="AFDAE7"/>
                </a:solidFill>
              </a:rPr>
              <a:t>unflooded</a:t>
            </a:r>
            <a:r>
              <a:rPr lang="en-US" sz="1400" dirty="0"/>
              <a:t> sites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0746263-5A9F-7C80-D388-E61633D8E46F}"/>
              </a:ext>
            </a:extLst>
          </p:cNvPr>
          <p:cNvSpPr txBox="1"/>
          <p:nvPr/>
        </p:nvSpPr>
        <p:spPr>
          <a:xfrm>
            <a:off x="8420290" y="5236292"/>
            <a:ext cx="20339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Threshold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2528F59-8FDF-647E-0EF0-D5C4DAACE5C5}"/>
              </a:ext>
            </a:extLst>
          </p:cNvPr>
          <p:cNvSpPr txBox="1"/>
          <p:nvPr/>
        </p:nvSpPr>
        <p:spPr>
          <a:xfrm>
            <a:off x="7553223" y="3844106"/>
            <a:ext cx="181048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kern="0" dirty="0">
                <a:solidFill>
                  <a:schemeClr val="bg1"/>
                </a:solidFill>
                <a:latin typeface="Times New Roman" panose="02020603050405020304" pitchFamily="18" charset="0"/>
                <a:ea typeface="Aptos" panose="020B0004020202020204" pitchFamily="34" charset="0"/>
              </a:rPr>
              <a:t>B</a:t>
            </a:r>
            <a:r>
              <a:rPr lang="en-US" kern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rachypterous</a:t>
            </a:r>
          </a:p>
          <a:p>
            <a:pPr algn="ctr"/>
            <a:r>
              <a:rPr lang="en-US" kern="0" dirty="0">
                <a:solidFill>
                  <a:schemeClr val="bg1"/>
                </a:solidFill>
                <a:latin typeface="Times New Roman" panose="02020603050405020304" pitchFamily="18" charset="0"/>
                <a:ea typeface="Aptos" panose="020B0004020202020204" pitchFamily="34" charset="0"/>
              </a:rPr>
              <a:t>form</a:t>
            </a:r>
            <a:r>
              <a:rPr lang="en-US" kern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B2662E9-DE21-C168-D636-73BDE2B1D85A}"/>
              </a:ext>
            </a:extLst>
          </p:cNvPr>
          <p:cNvSpPr txBox="1"/>
          <p:nvPr/>
        </p:nvSpPr>
        <p:spPr>
          <a:xfrm>
            <a:off x="9066027" y="3849410"/>
            <a:ext cx="181048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kern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Macropterous </a:t>
            </a:r>
          </a:p>
          <a:p>
            <a:pPr algn="ctr"/>
            <a:r>
              <a:rPr lang="en-US" kern="0" dirty="0">
                <a:solidFill>
                  <a:schemeClr val="bg1"/>
                </a:solidFill>
                <a:latin typeface="Times New Roman" panose="02020603050405020304" pitchFamily="18" charset="0"/>
                <a:ea typeface="Aptos" panose="020B0004020202020204" pitchFamily="34" charset="0"/>
              </a:rPr>
              <a:t>form</a:t>
            </a:r>
            <a:r>
              <a:rPr lang="en-US" kern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endParaRPr lang="en-US" dirty="0">
              <a:solidFill>
                <a:schemeClr val="bg1"/>
              </a:solidFill>
            </a:endParaRP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21DD97DF-D7C2-3FC8-38C3-839817778978}"/>
              </a:ext>
            </a:extLst>
          </p:cNvPr>
          <p:cNvCxnSpPr>
            <a:cxnSpLocks/>
          </p:cNvCxnSpPr>
          <p:nvPr/>
        </p:nvCxnSpPr>
        <p:spPr>
          <a:xfrm>
            <a:off x="9018859" y="3641690"/>
            <a:ext cx="133757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1C450F43-1E8D-CB97-7930-119CCF5CC3CD}"/>
              </a:ext>
            </a:extLst>
          </p:cNvPr>
          <p:cNvCxnSpPr/>
          <p:nvPr/>
        </p:nvCxnSpPr>
        <p:spPr>
          <a:xfrm>
            <a:off x="10347992" y="3543717"/>
            <a:ext cx="0" cy="18505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5250FB8C-A6BE-DBFE-E006-79AC232AA4C7}"/>
              </a:ext>
            </a:extLst>
          </p:cNvPr>
          <p:cNvCxnSpPr/>
          <p:nvPr/>
        </p:nvCxnSpPr>
        <p:spPr>
          <a:xfrm>
            <a:off x="9028401" y="3546772"/>
            <a:ext cx="0" cy="18505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5B47DFBE-C0A9-B726-27C1-A053E2D5FA75}"/>
                  </a:ext>
                </a:extLst>
              </p:cNvPr>
              <p:cNvSpPr txBox="1"/>
              <p:nvPr/>
            </p:nvSpPr>
            <p:spPr>
              <a:xfrm>
                <a:off x="9197831" y="3348000"/>
                <a:ext cx="942309" cy="3317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</m:rad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5B47DFBE-C0A9-B726-27C1-A053E2D5FA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7831" y="3348000"/>
                <a:ext cx="942309" cy="33175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ACA2D299-CAF2-FA81-3678-08502F7D6A91}"/>
              </a:ext>
            </a:extLst>
          </p:cNvPr>
          <p:cNvCxnSpPr>
            <a:cxnSpLocks/>
          </p:cNvCxnSpPr>
          <p:nvPr/>
        </p:nvCxnSpPr>
        <p:spPr>
          <a:xfrm>
            <a:off x="6314715" y="4979697"/>
            <a:ext cx="5655386" cy="851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DFE58171-2497-CA0F-42C2-E451025D570F}"/>
              </a:ext>
            </a:extLst>
          </p:cNvPr>
          <p:cNvSpPr txBox="1"/>
          <p:nvPr/>
        </p:nvSpPr>
        <p:spPr>
          <a:xfrm rot="16200000">
            <a:off x="4247576" y="2838690"/>
            <a:ext cx="360740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Probability density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8A4FCBE-1D15-A851-EA70-3DFE1319D119}"/>
              </a:ext>
            </a:extLst>
          </p:cNvPr>
          <p:cNvSpPr txBox="1"/>
          <p:nvPr/>
        </p:nvSpPr>
        <p:spPr>
          <a:xfrm>
            <a:off x="8420290" y="5792147"/>
            <a:ext cx="113043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200" dirty="0"/>
              <a:t>Liability</a:t>
            </a:r>
          </a:p>
        </p:txBody>
      </p:sp>
      <p:sp>
        <p:nvSpPr>
          <p:cNvPr id="67" name="Triangle 66">
            <a:extLst>
              <a:ext uri="{FF2B5EF4-FFF2-40B4-BE49-F238E27FC236}">
                <a16:creationId xmlns:a16="http://schemas.microsoft.com/office/drawing/2014/main" id="{FC6E53B2-2BEB-420B-68F7-39138DF4D1B5}"/>
              </a:ext>
            </a:extLst>
          </p:cNvPr>
          <p:cNvSpPr/>
          <p:nvPr/>
        </p:nvSpPr>
        <p:spPr>
          <a:xfrm>
            <a:off x="10178248" y="5021828"/>
            <a:ext cx="178185" cy="153608"/>
          </a:xfrm>
          <a:prstGeom prst="triangle">
            <a:avLst/>
          </a:prstGeom>
          <a:solidFill>
            <a:srgbClr val="FFCED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Triangle 67">
            <a:extLst>
              <a:ext uri="{FF2B5EF4-FFF2-40B4-BE49-F238E27FC236}">
                <a16:creationId xmlns:a16="http://schemas.microsoft.com/office/drawing/2014/main" id="{8BE0A86D-3F75-4133-994C-7161A5C64855}"/>
              </a:ext>
            </a:extLst>
          </p:cNvPr>
          <p:cNvSpPr/>
          <p:nvPr/>
        </p:nvSpPr>
        <p:spPr>
          <a:xfrm>
            <a:off x="8936767" y="5063634"/>
            <a:ext cx="178185" cy="153608"/>
          </a:xfrm>
          <a:prstGeom prst="triangle">
            <a:avLst/>
          </a:prstGeom>
          <a:solidFill>
            <a:srgbClr val="AFDAE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4BDDDE87-F985-BBC5-D62D-3BD5FF947C6E}"/>
              </a:ext>
            </a:extLst>
          </p:cNvPr>
          <p:cNvCxnSpPr>
            <a:cxnSpLocks/>
          </p:cNvCxnSpPr>
          <p:nvPr/>
        </p:nvCxnSpPr>
        <p:spPr>
          <a:xfrm flipH="1">
            <a:off x="8576750" y="5167452"/>
            <a:ext cx="29445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F2347046-31BE-D26C-2A80-0BF40C617755}"/>
              </a:ext>
            </a:extLst>
          </p:cNvPr>
          <p:cNvCxnSpPr>
            <a:cxnSpLocks/>
          </p:cNvCxnSpPr>
          <p:nvPr/>
        </p:nvCxnSpPr>
        <p:spPr>
          <a:xfrm flipH="1">
            <a:off x="10400078" y="5107818"/>
            <a:ext cx="294458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5DED6F26-5A29-9646-1B6D-922AD6B43D07}"/>
              </a:ext>
            </a:extLst>
          </p:cNvPr>
          <p:cNvSpPr/>
          <p:nvPr/>
        </p:nvSpPr>
        <p:spPr>
          <a:xfrm>
            <a:off x="6044876" y="4762014"/>
            <a:ext cx="269839" cy="52807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C15838E-0091-79DF-280E-95410065FB46}"/>
              </a:ext>
            </a:extLst>
          </p:cNvPr>
          <p:cNvCxnSpPr>
            <a:cxnSpLocks/>
          </p:cNvCxnSpPr>
          <p:nvPr/>
        </p:nvCxnSpPr>
        <p:spPr>
          <a:xfrm flipV="1">
            <a:off x="6314904" y="1268361"/>
            <a:ext cx="0" cy="371985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52EF7F85-FF4B-51DE-C328-4D981AEB1DAA}"/>
              </a:ext>
            </a:extLst>
          </p:cNvPr>
          <p:cNvSpPr txBox="1"/>
          <p:nvPr/>
        </p:nvSpPr>
        <p:spPr>
          <a:xfrm>
            <a:off x="2523749" y="5792146"/>
            <a:ext cx="193322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200" dirty="0"/>
              <a:t>Time (14 days)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464D596-3EED-398C-B6AC-7AD28262DB56}"/>
              </a:ext>
            </a:extLst>
          </p:cNvPr>
          <p:cNvSpPr txBox="1"/>
          <p:nvPr/>
        </p:nvSpPr>
        <p:spPr>
          <a:xfrm>
            <a:off x="5854134" y="657689"/>
            <a:ext cx="4074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B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D04E09B-C7EB-2C97-0E77-689CCDE62552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585" t="3820" r="3136" b="12117"/>
          <a:stretch/>
        </p:blipFill>
        <p:spPr>
          <a:xfrm>
            <a:off x="368833" y="1225272"/>
            <a:ext cx="5315871" cy="424580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07FF922-1AD2-EC60-A2B5-DB4F7958837E}"/>
              </a:ext>
            </a:extLst>
          </p:cNvPr>
          <p:cNvSpPr txBox="1"/>
          <p:nvPr/>
        </p:nvSpPr>
        <p:spPr>
          <a:xfrm>
            <a:off x="245780" y="657689"/>
            <a:ext cx="4074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27381615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70E9F-EC79-6401-0069-940BBB87C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4B170D35-34F0-B043-034E-162D4CF42323}"/>
              </a:ext>
            </a:extLst>
          </p:cNvPr>
          <p:cNvSpPr/>
          <p:nvPr/>
        </p:nvSpPr>
        <p:spPr>
          <a:xfrm>
            <a:off x="6044876" y="1874430"/>
            <a:ext cx="6006448" cy="3109140"/>
          </a:xfrm>
          <a:custGeom>
            <a:avLst/>
            <a:gdLst>
              <a:gd name="connsiteX0" fmla="*/ 0 w 6006448"/>
              <a:gd name="connsiteY0" fmla="*/ 3109140 h 3109140"/>
              <a:gd name="connsiteX1" fmla="*/ 1188720 w 6006448"/>
              <a:gd name="connsiteY1" fmla="*/ 2550340 h 3109140"/>
              <a:gd name="connsiteX2" fmla="*/ 3012395 w 6006448"/>
              <a:gd name="connsiteY2" fmla="*/ 0 h 3109140"/>
              <a:gd name="connsiteX3" fmla="*/ 4833103 w 6006448"/>
              <a:gd name="connsiteY3" fmla="*/ 2548991 h 3109140"/>
              <a:gd name="connsiteX4" fmla="*/ 6006448 w 6006448"/>
              <a:gd name="connsiteY4" fmla="*/ 3107342 h 31091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06448" h="3109140">
                <a:moveTo>
                  <a:pt x="0" y="3109140"/>
                </a:moveTo>
                <a:cubicBezTo>
                  <a:pt x="343327" y="3088835"/>
                  <a:pt x="686654" y="3068530"/>
                  <a:pt x="1188720" y="2550340"/>
                </a:cubicBezTo>
                <a:cubicBezTo>
                  <a:pt x="1690786" y="2032150"/>
                  <a:pt x="2404998" y="225"/>
                  <a:pt x="3012395" y="0"/>
                </a:cubicBezTo>
                <a:cubicBezTo>
                  <a:pt x="3619792" y="-225"/>
                  <a:pt x="4334094" y="2031101"/>
                  <a:pt x="4833103" y="2548991"/>
                </a:cubicBezTo>
                <a:cubicBezTo>
                  <a:pt x="5332112" y="3066881"/>
                  <a:pt x="5669280" y="3087111"/>
                  <a:pt x="6006448" y="3107342"/>
                </a:cubicBezTo>
              </a:path>
            </a:pathLst>
          </a:custGeom>
          <a:solidFill>
            <a:srgbClr val="AFDAE7"/>
          </a:solidFill>
          <a:ln w="3175">
            <a:solidFill>
              <a:srgbClr val="AFDA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5E8366B-D5C7-3404-15E2-599CCF051F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0578" t="23843" r="43051" b="45817"/>
          <a:stretch/>
        </p:blipFill>
        <p:spPr>
          <a:xfrm>
            <a:off x="9319891" y="1908434"/>
            <a:ext cx="2650210" cy="3079780"/>
          </a:xfrm>
          <a:prstGeom prst="rect">
            <a:avLst/>
          </a:prstGeom>
        </p:spPr>
      </p:pic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A78C8097-D631-C8A0-2A0D-D0757C90DA50}"/>
              </a:ext>
            </a:extLst>
          </p:cNvPr>
          <p:cNvCxnSpPr>
            <a:cxnSpLocks/>
          </p:cNvCxnSpPr>
          <p:nvPr/>
        </p:nvCxnSpPr>
        <p:spPr>
          <a:xfrm>
            <a:off x="9025860" y="4821980"/>
            <a:ext cx="124148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CE1A70D-A99C-5D55-3CDC-7569DFC45547}"/>
              </a:ext>
            </a:extLst>
          </p:cNvPr>
          <p:cNvCxnSpPr/>
          <p:nvPr/>
        </p:nvCxnSpPr>
        <p:spPr>
          <a:xfrm>
            <a:off x="9025860" y="4729451"/>
            <a:ext cx="0" cy="18505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6B8ADC3-A9B2-9456-C725-3755C22D94CF}"/>
              </a:ext>
            </a:extLst>
          </p:cNvPr>
          <p:cNvCxnSpPr/>
          <p:nvPr/>
        </p:nvCxnSpPr>
        <p:spPr>
          <a:xfrm>
            <a:off x="10267341" y="4729451"/>
            <a:ext cx="0" cy="18505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13105D09-6C30-6626-5A92-D6DF39B76A9A}"/>
                  </a:ext>
                </a:extLst>
              </p:cNvPr>
              <p:cNvSpPr txBox="1"/>
              <p:nvPr/>
            </p:nvSpPr>
            <p:spPr>
              <a:xfrm>
                <a:off x="8755266" y="4397085"/>
                <a:ext cx="1824967" cy="347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sz="1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1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𝑣𝑤</m:t>
                        </m:r>
                      </m:sub>
                      <m:sup>
                        <m:r>
                          <a:rPr lang="en-US" sz="1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sz="1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sz="1600" dirty="0"/>
                  <a:t>0.90 ± 0.08</a:t>
                </a:r>
                <a:r>
                  <a:rPr lang="en-US" sz="1600" dirty="0">
                    <a:effectLst/>
                  </a:rPr>
                  <a:t> </a:t>
                </a:r>
                <a:endParaRPr lang="en-US" sz="1600" dirty="0"/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13105D09-6C30-6626-5A92-D6DF39B76A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5266" y="4397085"/>
                <a:ext cx="1824967" cy="347916"/>
              </a:xfrm>
              <a:prstGeom prst="rect">
                <a:avLst/>
              </a:prstGeom>
              <a:blipFill>
                <a:blip r:embed="rId3"/>
                <a:stretch>
                  <a:fillRect t="-3571"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>
            <a:extLst>
              <a:ext uri="{FF2B5EF4-FFF2-40B4-BE49-F238E27FC236}">
                <a16:creationId xmlns:a16="http://schemas.microsoft.com/office/drawing/2014/main" id="{6FCAAA4E-0107-6B9E-04AA-D2438AC54A8B}"/>
              </a:ext>
            </a:extLst>
          </p:cNvPr>
          <p:cNvSpPr txBox="1"/>
          <p:nvPr/>
        </p:nvSpPr>
        <p:spPr>
          <a:xfrm>
            <a:off x="9197831" y="4979697"/>
            <a:ext cx="2664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C57EED6-6503-6D25-496B-A9BC7098EA00}"/>
              </a:ext>
            </a:extLst>
          </p:cNvPr>
          <p:cNvSpPr txBox="1"/>
          <p:nvPr/>
        </p:nvSpPr>
        <p:spPr>
          <a:xfrm>
            <a:off x="10208884" y="5328029"/>
            <a:ext cx="194155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Mean insect liability</a:t>
            </a:r>
          </a:p>
          <a:p>
            <a:pPr algn="ctr"/>
            <a:r>
              <a:rPr lang="en-US" sz="1600" dirty="0"/>
              <a:t>in </a:t>
            </a:r>
            <a:r>
              <a:rPr lang="en-US" sz="1600" b="1" dirty="0">
                <a:solidFill>
                  <a:srgbClr val="FFCED6"/>
                </a:solidFill>
              </a:rPr>
              <a:t>flooded</a:t>
            </a:r>
            <a:r>
              <a:rPr lang="en-US" sz="1600" dirty="0"/>
              <a:t> sites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32485B8-787B-C624-4694-1EC221D76AAC}"/>
                  </a:ext>
                </a:extLst>
              </p:cNvPr>
              <p:cNvSpPr txBox="1"/>
              <p:nvPr/>
            </p:nvSpPr>
            <p:spPr>
              <a:xfrm>
                <a:off x="7516834" y="4964853"/>
                <a:ext cx="871007" cy="4542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</m:acc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</m:rad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32485B8-787B-C624-4694-1EC221D76A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6834" y="4964853"/>
                <a:ext cx="871007" cy="454227"/>
              </a:xfrm>
              <a:prstGeom prst="rect">
                <a:avLst/>
              </a:prstGeom>
              <a:blipFill>
                <a:blip r:embed="rId4"/>
                <a:stretch>
                  <a:fillRect l="-1429"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Box 33">
            <a:extLst>
              <a:ext uri="{FF2B5EF4-FFF2-40B4-BE49-F238E27FC236}">
                <a16:creationId xmlns:a16="http://schemas.microsoft.com/office/drawing/2014/main" id="{9144050F-676B-F6EE-7656-FE3405B2D93C}"/>
              </a:ext>
            </a:extLst>
          </p:cNvPr>
          <p:cNvSpPr txBox="1"/>
          <p:nvPr/>
        </p:nvSpPr>
        <p:spPr>
          <a:xfrm>
            <a:off x="7018440" y="5332954"/>
            <a:ext cx="194155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Mean insect liability</a:t>
            </a:r>
          </a:p>
          <a:p>
            <a:pPr algn="ctr"/>
            <a:r>
              <a:rPr lang="en-US" sz="1600" dirty="0"/>
              <a:t>in </a:t>
            </a:r>
            <a:r>
              <a:rPr lang="en-US" sz="1600" b="1" dirty="0">
                <a:solidFill>
                  <a:srgbClr val="AFDAE7"/>
                </a:solidFill>
              </a:rPr>
              <a:t>unflooded</a:t>
            </a:r>
            <a:r>
              <a:rPr lang="en-US" sz="1600" dirty="0"/>
              <a:t> sites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A2C8EA7-5DAA-35A7-8219-2FC69248A336}"/>
              </a:ext>
            </a:extLst>
          </p:cNvPr>
          <p:cNvSpPr txBox="1"/>
          <p:nvPr/>
        </p:nvSpPr>
        <p:spPr>
          <a:xfrm>
            <a:off x="8420290" y="5236292"/>
            <a:ext cx="20339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Threshold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43FF555-C05B-0328-FADD-0DC761AF5690}"/>
              </a:ext>
            </a:extLst>
          </p:cNvPr>
          <p:cNvSpPr txBox="1"/>
          <p:nvPr/>
        </p:nvSpPr>
        <p:spPr>
          <a:xfrm>
            <a:off x="7553223" y="3844106"/>
            <a:ext cx="181048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kern="0" dirty="0">
                <a:solidFill>
                  <a:schemeClr val="bg1"/>
                </a:solidFill>
                <a:latin typeface="Times New Roman" panose="02020603050405020304" pitchFamily="18" charset="0"/>
                <a:ea typeface="Aptos" panose="020B0004020202020204" pitchFamily="34" charset="0"/>
              </a:rPr>
              <a:t>B</a:t>
            </a:r>
            <a:r>
              <a:rPr lang="en-US" kern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rachypterous</a:t>
            </a:r>
          </a:p>
          <a:p>
            <a:pPr algn="ctr"/>
            <a:r>
              <a:rPr lang="en-US" kern="0" dirty="0">
                <a:solidFill>
                  <a:schemeClr val="bg1"/>
                </a:solidFill>
                <a:latin typeface="Times New Roman" panose="02020603050405020304" pitchFamily="18" charset="0"/>
                <a:ea typeface="Aptos" panose="020B0004020202020204" pitchFamily="34" charset="0"/>
              </a:rPr>
              <a:t>form</a:t>
            </a:r>
            <a:r>
              <a:rPr lang="en-US" kern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43F71CB-8773-7076-93A2-9AD928457F09}"/>
              </a:ext>
            </a:extLst>
          </p:cNvPr>
          <p:cNvSpPr txBox="1"/>
          <p:nvPr/>
        </p:nvSpPr>
        <p:spPr>
          <a:xfrm>
            <a:off x="9066027" y="3849410"/>
            <a:ext cx="181048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kern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Macropterous </a:t>
            </a:r>
          </a:p>
          <a:p>
            <a:pPr algn="ctr"/>
            <a:r>
              <a:rPr lang="en-US" kern="0" dirty="0">
                <a:solidFill>
                  <a:schemeClr val="bg1"/>
                </a:solidFill>
                <a:latin typeface="Times New Roman" panose="02020603050405020304" pitchFamily="18" charset="0"/>
                <a:ea typeface="Aptos" panose="020B0004020202020204" pitchFamily="34" charset="0"/>
              </a:rPr>
              <a:t>form</a:t>
            </a:r>
            <a:r>
              <a:rPr lang="en-US" kern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endParaRPr lang="en-US" dirty="0">
              <a:solidFill>
                <a:schemeClr val="bg1"/>
              </a:solidFill>
            </a:endParaRP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6AEBBB79-54B9-201B-9AA4-018AE8652604}"/>
              </a:ext>
            </a:extLst>
          </p:cNvPr>
          <p:cNvCxnSpPr>
            <a:cxnSpLocks/>
          </p:cNvCxnSpPr>
          <p:nvPr/>
        </p:nvCxnSpPr>
        <p:spPr>
          <a:xfrm>
            <a:off x="9018859" y="3641690"/>
            <a:ext cx="133757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02399BE6-5DE5-1BAA-CD20-9E9A06AD2A56}"/>
              </a:ext>
            </a:extLst>
          </p:cNvPr>
          <p:cNvCxnSpPr/>
          <p:nvPr/>
        </p:nvCxnSpPr>
        <p:spPr>
          <a:xfrm>
            <a:off x="10347992" y="3543717"/>
            <a:ext cx="0" cy="18505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C244366A-C61D-83E4-CD70-F729B71BE90C}"/>
              </a:ext>
            </a:extLst>
          </p:cNvPr>
          <p:cNvCxnSpPr/>
          <p:nvPr/>
        </p:nvCxnSpPr>
        <p:spPr>
          <a:xfrm>
            <a:off x="9028401" y="3546772"/>
            <a:ext cx="0" cy="18505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3F25DD69-9F16-6695-2BEF-82723B5B6297}"/>
                  </a:ext>
                </a:extLst>
              </p:cNvPr>
              <p:cNvSpPr txBox="1"/>
              <p:nvPr/>
            </p:nvSpPr>
            <p:spPr>
              <a:xfrm>
                <a:off x="9197831" y="3276560"/>
                <a:ext cx="94230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</m:ra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3F25DD69-9F16-6695-2BEF-82723B5B62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7831" y="3276560"/>
                <a:ext cx="942309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A9F8073A-6EE9-5108-C07A-53709EE1E84E}"/>
              </a:ext>
            </a:extLst>
          </p:cNvPr>
          <p:cNvCxnSpPr>
            <a:cxnSpLocks/>
          </p:cNvCxnSpPr>
          <p:nvPr/>
        </p:nvCxnSpPr>
        <p:spPr>
          <a:xfrm>
            <a:off x="6314715" y="4979697"/>
            <a:ext cx="5655386" cy="851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0A8A663A-0D26-FBF6-407F-C0FDF89D7CB1}"/>
              </a:ext>
            </a:extLst>
          </p:cNvPr>
          <p:cNvSpPr txBox="1"/>
          <p:nvPr/>
        </p:nvSpPr>
        <p:spPr>
          <a:xfrm rot="16200000">
            <a:off x="4247576" y="2838690"/>
            <a:ext cx="360740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Probability density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117D663-3ED3-1874-19D7-CD87A7407896}"/>
              </a:ext>
            </a:extLst>
          </p:cNvPr>
          <p:cNvSpPr txBox="1"/>
          <p:nvPr/>
        </p:nvSpPr>
        <p:spPr>
          <a:xfrm>
            <a:off x="8765822" y="5773118"/>
            <a:ext cx="113043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200" dirty="0"/>
              <a:t>Liability</a:t>
            </a:r>
          </a:p>
        </p:txBody>
      </p:sp>
      <p:sp>
        <p:nvSpPr>
          <p:cNvPr id="67" name="Triangle 66">
            <a:extLst>
              <a:ext uri="{FF2B5EF4-FFF2-40B4-BE49-F238E27FC236}">
                <a16:creationId xmlns:a16="http://schemas.microsoft.com/office/drawing/2014/main" id="{31612894-285B-5789-0CC1-90ADB5D222AF}"/>
              </a:ext>
            </a:extLst>
          </p:cNvPr>
          <p:cNvSpPr/>
          <p:nvPr/>
        </p:nvSpPr>
        <p:spPr>
          <a:xfrm>
            <a:off x="10178248" y="5021828"/>
            <a:ext cx="178185" cy="153608"/>
          </a:xfrm>
          <a:prstGeom prst="triangle">
            <a:avLst/>
          </a:prstGeom>
          <a:solidFill>
            <a:srgbClr val="FFCED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Triangle 67">
            <a:extLst>
              <a:ext uri="{FF2B5EF4-FFF2-40B4-BE49-F238E27FC236}">
                <a16:creationId xmlns:a16="http://schemas.microsoft.com/office/drawing/2014/main" id="{275C933D-0692-273C-72AA-FB34390D9CE9}"/>
              </a:ext>
            </a:extLst>
          </p:cNvPr>
          <p:cNvSpPr/>
          <p:nvPr/>
        </p:nvSpPr>
        <p:spPr>
          <a:xfrm>
            <a:off x="8936767" y="5063634"/>
            <a:ext cx="178185" cy="153608"/>
          </a:xfrm>
          <a:prstGeom prst="triangle">
            <a:avLst/>
          </a:prstGeom>
          <a:solidFill>
            <a:srgbClr val="AFDAE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B5C9F16F-273D-7C5E-DA91-00CE01734E99}"/>
              </a:ext>
            </a:extLst>
          </p:cNvPr>
          <p:cNvCxnSpPr>
            <a:cxnSpLocks/>
          </p:cNvCxnSpPr>
          <p:nvPr/>
        </p:nvCxnSpPr>
        <p:spPr>
          <a:xfrm flipH="1">
            <a:off x="8576750" y="5138876"/>
            <a:ext cx="29445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D9602CF8-1156-1B3E-9C2B-430848912C80}"/>
              </a:ext>
            </a:extLst>
          </p:cNvPr>
          <p:cNvCxnSpPr>
            <a:cxnSpLocks/>
          </p:cNvCxnSpPr>
          <p:nvPr/>
        </p:nvCxnSpPr>
        <p:spPr>
          <a:xfrm flipH="1">
            <a:off x="10400078" y="5107818"/>
            <a:ext cx="294458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F433ABC8-5E9B-CAB9-6927-B464F5B09739}"/>
              </a:ext>
            </a:extLst>
          </p:cNvPr>
          <p:cNvSpPr/>
          <p:nvPr/>
        </p:nvSpPr>
        <p:spPr>
          <a:xfrm>
            <a:off x="6044876" y="4762014"/>
            <a:ext cx="269839" cy="52807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640FC47-3914-944B-15C3-42F1B880504F}"/>
              </a:ext>
            </a:extLst>
          </p:cNvPr>
          <p:cNvCxnSpPr>
            <a:cxnSpLocks/>
          </p:cNvCxnSpPr>
          <p:nvPr/>
        </p:nvCxnSpPr>
        <p:spPr>
          <a:xfrm flipV="1">
            <a:off x="6314904" y="1268361"/>
            <a:ext cx="0" cy="371985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B5C9FBB-4A48-4E6A-FCF7-CD8CD84974C6}"/>
              </a:ext>
            </a:extLst>
          </p:cNvPr>
          <p:cNvSpPr txBox="1"/>
          <p:nvPr/>
        </p:nvSpPr>
        <p:spPr>
          <a:xfrm>
            <a:off x="2500443" y="5792146"/>
            <a:ext cx="197983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200" dirty="0"/>
              <a:t>Time (4 weeks)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FAC3B83-D0C0-3A8A-166B-F343933353FA}"/>
              </a:ext>
            </a:extLst>
          </p:cNvPr>
          <p:cNvSpPr txBox="1"/>
          <p:nvPr/>
        </p:nvSpPr>
        <p:spPr>
          <a:xfrm>
            <a:off x="5854134" y="657689"/>
            <a:ext cx="4074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B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0B9201-8723-3EF2-F5E3-1EF89B754A91}"/>
              </a:ext>
            </a:extLst>
          </p:cNvPr>
          <p:cNvSpPr txBox="1"/>
          <p:nvPr/>
        </p:nvSpPr>
        <p:spPr>
          <a:xfrm>
            <a:off x="245780" y="657689"/>
            <a:ext cx="4074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A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911D657-0CAE-2FD9-392A-384035E73AA1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/>
          </a:blip>
          <a:srcRect b="10736"/>
          <a:stretch/>
        </p:blipFill>
        <p:spPr>
          <a:xfrm>
            <a:off x="166173" y="1034273"/>
            <a:ext cx="5700493" cy="4509796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C68F200-55CE-0DE1-1100-388BF0DEBB07}"/>
                  </a:ext>
                </a:extLst>
              </p:cNvPr>
              <p:cNvSpPr txBox="1"/>
              <p:nvPr/>
            </p:nvSpPr>
            <p:spPr>
              <a:xfrm>
                <a:off x="10812712" y="4948322"/>
                <a:ext cx="871007" cy="4542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𝑣𝑤</m:t>
                          </m:r>
                        </m:sub>
                      </m:sSub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</m:rad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C68F200-55CE-0DE1-1100-388BF0DEBB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12712" y="4948322"/>
                <a:ext cx="871007" cy="454227"/>
              </a:xfrm>
              <a:prstGeom prst="rect">
                <a:avLst/>
              </a:prstGeom>
              <a:blipFill>
                <a:blip r:embed="rId7"/>
                <a:stretch>
                  <a:fillRect l="-1429" r="-20000"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158668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1255</TotalTime>
  <Words>78</Words>
  <Application>Microsoft Macintosh PowerPoint</Application>
  <PresentationFormat>Widescreen</PresentationFormat>
  <Paragraphs>38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Aptos</vt:lpstr>
      <vt:lpstr>Aptos Display</vt:lpstr>
      <vt:lpstr>Arial</vt:lpstr>
      <vt:lpstr>Cambria Math</vt:lpstr>
      <vt:lpstr>Times New Roman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Goel, Nikunj</dc:creator>
  <cp:lastModifiedBy>Goel, Nikunj</cp:lastModifiedBy>
  <cp:revision>10</cp:revision>
  <dcterms:created xsi:type="dcterms:W3CDTF">2024-10-30T18:00:41Z</dcterms:created>
  <dcterms:modified xsi:type="dcterms:W3CDTF">2024-10-31T14:59:37Z</dcterms:modified>
</cp:coreProperties>
</file>